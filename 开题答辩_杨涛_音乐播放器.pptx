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93C5FD"/>
                </a:solidFill>
                <a:latin typeface="Arial"/>
              </a:defRPr>
            </a:pPr>
            <a:r>
              <a:t>HUNAN INSTITUTE</a:t>
            </a:r>
            <a:br/>
            <a:r>
              <a:t>OF SOFTWARE</a:t>
            </a:r>
            <a:br/>
            <a:r>
              <a:t>TECHNOLOGY</a:t>
            </a:r>
          </a:p>
          <a:p>
            <a:br/>
            <a:pPr>
              <a:defRPr sz="1400">
                <a:solidFill>
                  <a:srgbClr val="FFFFFF"/>
                </a:solidFill>
                <a:latin typeface="Microsoft YaHei"/>
              </a:defRPr>
            </a:pPr>
            <a:r>
              <a:t>本科生毕业设计开题报告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37160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284C7"/>
                </a:solidFill>
                <a:latin typeface="Microsoft YaHei"/>
              </a:defRPr>
            </a:pPr>
            <a:r>
              <a:t>开题答辩汇报 · 毕业设计（论文）</a:t>
            </a:r>
          </a:p>
          <a:p>
            <a:pPr>
              <a:defRPr sz="2800" b="1">
                <a:solidFill>
                  <a:srgbClr val="1E3A8A"/>
                </a:solidFill>
                <a:latin typeface="Microsoft YaHei"/>
              </a:defRPr>
            </a:pPr>
            <a:r>
              <a:t>基于React 19与TypeScript 6的</a:t>
            </a:r>
            <a:br/>
            <a:r>
              <a:t>跨平台音乐聚合播放器设计与实现</a:t>
            </a:r>
          </a:p>
          <a:p>
            <a:br/>
            <a:pPr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面向现代 Web 流媒体的轻量化前后端分离播放平台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4754880" y="4389120"/>
            <a:ext cx="6766560" cy="1645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0" y="4572000"/>
            <a:ext cx="6217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答辩人：杨涛          学号：202301530323</a:t>
            </a:r>
          </a:p>
          <a:p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学院/专业：软件工程学院 · 软件工程技术2303班</a:t>
            </a:r>
          </a:p>
          <a:p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指导老师：刘星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01 / 选题背景与行业痛点分析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C2626"/>
                </a:solidFill>
                <a:latin typeface="Microsoft YaHei"/>
              </a:defRPr>
            </a:pPr>
            <a:r>
              <a:t>主流商业播放器痛点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商业广告繁多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  开屏广告、弹窗诱导、信息流广告破坏听觉沉浸。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客户端臃肿笨重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  集成过多短视频、直播、社区等非听歌社交模块，内存占用高。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跨平台体验割裂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  桌面端与移动端交互逻辑不一致，环境依赖复杂。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版权分散曲库割裂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  用户多平台搜歌与管理收藏资产成本高昂。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YaHei"/>
              </a:defRPr>
            </a:pPr>
            <a:r>
              <a:t>本课题的核心定位与愿景</a:t>
            </a:r>
          </a:p>
          <a:p>
            <a:br/>
            <a:pPr>
              <a:defRPr b="1" sz="1400">
                <a:solidFill>
                  <a:srgbClr val="1E3A8A"/>
                </a:solidFill>
                <a:latin typeface="Microsoft YaHei"/>
              </a:defRPr>
            </a:pPr>
            <a:r>
              <a:t>✓ 纯粹极简，零广告干扰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  去伪存真，全面砍掉社交与广告噱头，聚焦纯粹高品质听歌。</a:t>
            </a:r>
          </a:p>
          <a:p>
            <a:br/>
            <a:pPr>
              <a:defRPr b="1" sz="1400">
                <a:solidFill>
                  <a:srgbClr val="1E3A8A"/>
                </a:solidFill>
                <a:latin typeface="Microsoft YaHei"/>
              </a:defRPr>
            </a:pPr>
            <a:r>
              <a:t>✓ 轻量化 B/S 跨平台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  基于 Web 标准构建，任何操作系统即开即用，无需繁琐安装。</a:t>
            </a:r>
          </a:p>
          <a:p>
            <a:br/>
            <a:pPr>
              <a:defRPr b="1" sz="1400">
                <a:solidFill>
                  <a:srgbClr val="1E3A8A"/>
                </a:solidFill>
                <a:latin typeface="Microsoft YaHei"/>
              </a:defRPr>
            </a:pPr>
            <a:r>
              <a:t>✓ 自建专属代理中台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  聚合海量优质曲库，突破跨域限制，保障数据传输安全。</a:t>
            </a:r>
          </a:p>
          <a:p>
            <a:br/>
            <a:pPr>
              <a:defRPr b="1" sz="1400">
                <a:solidFill>
                  <a:srgbClr val="1E3A8A"/>
                </a:solidFill>
                <a:latin typeface="Microsoft YaHei"/>
              </a:defRPr>
            </a:pPr>
            <a:r>
              <a:t>✓ 情绪感知与视觉共鸣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  引入心境色彩与 Canvas 粒子雨滴动画，打造视听深度沉浸。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02 / 国内外研究现状与技术参考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YaHei"/>
              </a:defRPr>
            </a:pPr>
            <a:r>
              <a:t>国内研究现状与成果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【网易云/QQ音乐生态】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以网易云为代表的协同过滤“每日推荐”与乐评社区树立了算法与粘性标杆；QQ音乐深耕 Dolby Atmos 高解析音频解码。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【开源 API 代理生态】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开源社区涌现出活跃的第三方 API 逆向与数据转发中台，为自研播放器提供了跨域数据支撑。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【现代轻量交互探索】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国内学术界广泛关注利用 Vue/React 打造轻量 Web 音频交互界面，减少内存开销与卡顿。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国外前沿技术演进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【Spotify 工业推荐水准】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结合协同过滤算法与自然语言处理技术，构建高度定制化的音乐发现与冷启动体系。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【W3C Web Audio API 标准】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现代浏览器底层音频流图标准落地，无需插件即可实现低延迟混音、无级变速与频谱可视化。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【声明式 UI 与类型安全】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React 19 并发渲染与 TypeScript 严格类型推断，使复杂流媒体前端具备了企业级健壮性。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03 / 课题研究目标与预期指标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698480" cy="10972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Microsoft YaHei"/>
              </a:defRPr>
            </a:pPr>
            <a:r>
              <a:t>核心目标：构建一套轻量化、高响应、具备情绪感知与跨平台一致性的现代化音乐聚合平台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92608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Microsoft YaHei"/>
              </a:defRPr>
            </a:pPr>
            <a:r>
              <a:t>全栈轻量与安全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前后端完全解耦架构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自建专属 Express 代理网关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突破浏览器 CORS 跨域拦截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轻量 JSON 持久化，免重型数据库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92608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31089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Microsoft YaHei"/>
              </a:defRPr>
            </a:pPr>
            <a:r>
              <a:t>专业流媒体播放体验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0.5x~2.0x 无级倍速平滑调控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4 种播放循环（单曲/随机/列表等）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双通道预加载缓存池，切歌秒开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LRC 歌词逐行高亮与点击任意跳转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926080"/>
            <a:ext cx="3383280" cy="3200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108960"/>
            <a:ext cx="30175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D97706"/>
                </a:solidFill>
                <a:latin typeface="Microsoft YaHei"/>
              </a:defRPr>
            </a:pPr>
            <a:r>
              <a:t>多模态情绪视觉融合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开心/平静/伤心 3大心境模式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心境色彩与标签歌单实时联动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Canvas 物理粒子雨滴下落模拟</a:t>
            </a:r>
          </a:p>
          <a:p>
            <a:br/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▸ 底部同心涟漪粒子柔和发散动效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04 / 系统总体技术架构设计（B/S三层体系）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284C7"/>
                </a:solidFill>
                <a:latin typeface="Microsoft YaHei"/>
              </a:defRPr>
            </a:pPr>
            <a:r>
              <a:t>【前端表示层】 Client Tier (React 19 + TypeScript 6)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UI组件库 · React Context 状态总线 · Tailwind CSS 原子化毛玻璃 · Canvas 2D 粒子引擎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   页面路由层: 发现页 / 搜索页 / 排行榜 / 歌单详情 / 设置页   |   状态总线: PlayerContext (播放控制) / DataContext (歌单数据) / MoodContext (心境感知)   |   底层能力: HTML5 Audio 音频解码 · Canvas 雨滴涟漪物理渲染池 · 全屏双语歌词滚动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106984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Microsoft YaHei"/>
              </a:defRPr>
            </a:pPr>
            <a:r>
              <a:t>【服务端代理层】 Gateway Tier (Node.js + Express.js)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专属代理中台 · 跨域拦截规避 · 会话安全中转 · 轻量配置持久化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   API 代理转发: 统一请求加签中转，抹平第三方接口限制，解决浏览器同源限制(CORS)   |   鉴权中枢: 移动端二维码扫码登录生成、Token 轮询验证、Session/Cookie 内存安全持久化   |   配置管理: ~/.aurora-music/config.json 本地快速存储，无传统数据库高维护开销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1069848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84632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64748B"/>
                </a:solidFill>
                <a:latin typeface="Microsoft YaHei"/>
              </a:defRPr>
            </a:pPr>
            <a:r>
              <a:t>【数据资源层】 Data Source Tier (Cloud Streaming API)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海量音乐元数据 · 音频流 CDN · 歌单/排行榜/歌手画像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   网易云音乐底层数据源 · 高速音频流分发网络 · LRC 歌词数据源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05 / 核心功能实现（一）：音频控制与歌词同步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Microsoft YaHei"/>
              </a:defRPr>
            </a:pPr>
            <a:r>
              <a:t>高保真播放引擎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基于 HTML5 Audio 与 Web Audio API 深度封装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支持播放/暂停、快进/快退与进度条毫秒级拖拽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支持 0.5x、0.75x、1.0x、1.25x、1.5x、2.0x 无级变速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音量平滑线性增益调节，避免音频爆音撕裂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Microsoft YaHei"/>
              </a:defRPr>
            </a:pPr>
            <a:r>
              <a:t>智能队列与预加载池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支持单曲循环、列表循环、随机播放与顺序播放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待播列表支持动态追加、删除与顺序拖动调度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设计双通道预加载缓存池机制：当前曲目播放至85%自动后台预取下曲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消除常规网页播放器的换曲缓冲空白，实现切歌秒播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284C7"/>
                </a:solidFill>
                <a:latin typeface="Microsoft YaHei"/>
              </a:defRPr>
            </a:pPr>
            <a:r>
              <a:t>毫秒级歌词同步追踪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高精度 LRC 歌词解析引擎，将时间戳映射为有序帧序列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二分查找算法实时匹配播放进度，驱动歌词容器平滑阻尼滚动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全屏沉浸模式：背景采用黑胶旋转动效与当前封面高斯模糊光晕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支持单击任意歌词行直接跳转到对应音频时间点播放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06 / 核心功能实现（二）：多维检索与智能发现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Microsoft YaHei"/>
              </a:defRPr>
            </a:pPr>
            <a:r>
              <a:t>多维度即时搜索引擎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防抖处理（Debounce 300ms），避免高频无意义接口穿透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支持 单曲、歌手、专辑、歌单 4大 Tab 页签分类即时检索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搜索结果卡片支持一键播放、添加至队列与收藏到个人歌单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热门搜索建议与历史搜索词本地安全缓存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Microsoft YaHei"/>
              </a:defRPr>
            </a:pPr>
            <a:r>
              <a:t>个性化推荐与发现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每日推荐：结合用户听歌喜好与标签进行精准曲目推送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热门歌单：海量优质歌单分类标签探索（华语/流行/摇滚/轻音乐）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“换一批”随机洗牌算法，大幅拓宽用户新曲发现边界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骨架屏（Skeleton Screen）过渡加载，杜绝布局跳动（CLS）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9202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E3A8A"/>
                </a:solidFill>
                <a:latin typeface="Microsoft YaHei"/>
              </a:defRPr>
            </a:pPr>
            <a:r>
              <a:t>权威榜单分页流式加载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实时同步飙升榜、新歌榜、热歌榜、原创榜等官方权威排行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支持榜单内曲目即时筛选与“一键播放全部”功能</a:t>
            </a:r>
          </a:p>
          <a:p>
            <a:br/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针对海量大榜单采用动态分页加载，防止一次性渲染导致页面掉帧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07 / 特色亮点：情绪感知主题与雨滴物理粒子系统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D97706"/>
                </a:solidFill>
                <a:latin typeface="Microsoft YaHei"/>
              </a:defRPr>
            </a:pPr>
            <a:r>
              <a:t>三种心境模式深度联动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★ 开心模式 (Happy)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  暖阳金色调 · 自动推送节奏轻快、愉悦明朗的热门歌单。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★ 平静模式 (Peaceful)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  深邃湖蓝调 · 自动匹配白噪音、轻音乐与抒情慢歌，适合阅读工作。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★ 伤心模式 (Melancholy)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  静谧黛紫调 · 自动流转治愈系感性旋律，陪伴情绪释放。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Microsoft YaHei"/>
              </a:defRPr>
            </a:pPr>
            <a:r>
              <a:t>Canvas 2D 物理粒子雨滴动画 (RainEffect)</a:t>
            </a:r>
          </a:p>
          <a:p>
            <a:br/>
            <a:pPr>
              <a:defRPr b="1" sz="1300">
                <a:solidFill>
                  <a:srgbClr val="1E293B"/>
                </a:solidFill>
                <a:latin typeface="Microsoft YaHei"/>
              </a:defRPr>
            </a:pPr>
            <a:r>
              <a:t>✓ 气象学物理下坠轨迹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每个雨滴粒子独立运算坐标(x,y)、落速与斜向偏移角，真实模拟空中飘落细雨。</a:t>
            </a:r>
          </a:p>
          <a:p>
            <a:br/>
            <a:pPr>
              <a:defRPr b="1" sz="1300">
                <a:solidFill>
                  <a:srgbClr val="1E293B"/>
                </a:solidFill>
                <a:latin typeface="Microsoft YaHei"/>
              </a:defRPr>
            </a:pPr>
            <a:r>
              <a:t>✓ 落底同心椭圆涟漪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当雨滴触碰视窗底部边缘时，动态生成双层椭圆扩散涟漪，半径渐增、透明度渐褪。</a:t>
            </a:r>
          </a:p>
          <a:p>
            <a:br/>
            <a:pPr>
              <a:defRPr b="1" sz="1300">
                <a:solidFill>
                  <a:srgbClr val="1E293B"/>
                </a:solidFill>
                <a:latin typeface="Microsoft YaHei"/>
              </a:defRPr>
            </a:pPr>
            <a:r>
              <a:t>✓ 极低系统资源开销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采用 requestAnimationFrame 帧同步与离屏粒子复用池，CPU 占用率低于 3%，满帧 60FPS 极度丝滑。</a:t>
            </a:r>
          </a:p>
          <a:p>
            <a:br/>
            <a:pPr>
              <a:defRPr b="1" sz="1300">
                <a:solidFill>
                  <a:srgbClr val="1E293B"/>
                </a:solidFill>
                <a:latin typeface="Microsoft YaHei"/>
              </a:defRPr>
            </a:pPr>
            <a:r>
              <a:t>✓ 听觉与视觉多模态共鸣</a:t>
            </a:r>
          </a:p>
          <a:p>
            <a:pPr>
              <a:defRPr sz="1100">
                <a:solidFill>
                  <a:srgbClr val="64748B"/>
                </a:solidFill>
                <a:latin typeface="Microsoft YaHei"/>
              </a:defRPr>
            </a:pPr>
            <a:r>
              <a:t>  将听觉旋律与窗外细雨的视觉意境结合，打造极具艺术美感的沉浸空间。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08 / 关键技术路线与开发环境选型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284C7"/>
                </a:solidFill>
                <a:latin typeface="Microsoft YaHei"/>
              </a:defRPr>
            </a:pPr>
            <a:r>
              <a:t>前端核心技术栈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React 19 框架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声明式组件开发，通过并发模式优化多动画与歌词高频重绘，页面零卡顿。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TypeScript 6 语言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全量开启 Strict 严格模式，为复杂音频/歌词数据建立接口契约，杜绝运行时异常。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Tailwind CSS 4 样式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采用原子化 CSS 与现代毛玻璃滤镜（Backdrop-Filter），打造现代化轻量界面。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920240"/>
            <a:ext cx="46634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  <a:latin typeface="Microsoft YaHei"/>
              </a:defRPr>
            </a:pPr>
            <a:r>
              <a:t>后端服务与代理中台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Node.js + Express.js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轻量事件驱动非阻塞 I/O，高效支撑多并发音频数据中转与安全过滤。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跨域 CORS 彻底化解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自建专属中间件统一代理转发，避开浏览器同源策略限制，消除网络阻断。</a:t>
            </a:r>
          </a:p>
          <a:p>
            <a:br/>
            <a:pPr>
              <a:defRPr b="1" sz="1400">
                <a:solidFill>
                  <a:srgbClr val="1E293B"/>
                </a:solidFill>
                <a:latin typeface="Microsoft YaHei"/>
              </a:defRPr>
            </a:pPr>
            <a:r>
              <a:t>• 轻量 JSON 配置存储</a:t>
            </a:r>
          </a:p>
          <a:p>
            <a:pPr>
              <a:defRPr sz="1200">
                <a:solidFill>
                  <a:srgbClr val="64748B"/>
                </a:solidFill>
                <a:latin typeface="Microsoft YaHei"/>
              </a:defRPr>
            </a:pPr>
            <a:r>
              <a:t>配置本地持久化存储，无需部署维护重型数据库，实现极简安装即用。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284C7"/>
          </a:solidFill>
          <a:ln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Microsoft YaHei"/>
              </a:defRPr>
            </a:pPr>
            <a:r>
              <a:t>湖南软件职业技术大学 · 本科生毕业设计开题答辩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E3A8A"/>
                </a:solidFill>
                <a:latin typeface="Microsoft YaHei"/>
              </a:defRPr>
            </a:pPr>
            <a:r>
              <a:t>09 / 项目进度安排与预期成果交付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0149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8A"/>
                </a:solidFill>
                <a:latin typeface="Microsoft YaHei"/>
              </a:defRPr>
            </a:pPr>
            <a:r>
              <a:t>阶段时间规划路线（严格对齐任务书）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[2026.10 - 2026.10]  选题与论证阶段：明确课题方向与边界，调研现有播放器优缺点，完成选题任务书。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[2026.11 - 2026.11]  开题与架构设计：撰写开题报告，梳理需求与技术路线，完成原型架构与代理网关验证。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[2026.11 - 2027.03]  系统编码与初稿：完成音频引擎、情绪粒子、歌词同步等全部功能实现，撰写毕业论文初稿。</a:t>
            </a:r>
          </a:p>
          <a:p>
            <a:pPr>
              <a:defRPr sz="1200">
                <a:solidFill>
                  <a:srgbClr val="1E293B"/>
                </a:solidFill>
                <a:latin typeface="Microsoft YaHei"/>
              </a:defRPr>
            </a:pPr>
            <a:r>
              <a:t>• [2027.04 - 2027.05]  测试调优与定稿：开展全功能黑盒测试与跨终端适配，修复安全隐患，完善定稿准备答辩。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10698480" cy="17373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48056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284C7"/>
                </a:solidFill>
                <a:latin typeface="Microsoft YaHei"/>
              </a:defRPr>
            </a:pPr>
            <a:r>
              <a:t>预期最终交付成果</a:t>
            </a:r>
          </a:p>
          <a:p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一套可独立稳定运行的高性能跨平台音乐播放器系统源码与发布包</a:t>
            </a:r>
          </a:p>
          <a:p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一篇严格符合学校《撰写规范》的 1.7 万字完整本科毕业设计说明书</a:t>
            </a:r>
          </a:p>
          <a:p>
            <a:pPr>
              <a:defRPr sz="1300">
                <a:solidFill>
                  <a:srgbClr val="1E293B"/>
                </a:solidFill>
                <a:latin typeface="Microsoft YaHei"/>
              </a:defRPr>
            </a:pPr>
            <a:r>
              <a:t>✓ 一套详实的黑盒功能测试用例表与系统测试实测报告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011680"/>
            <a:ext cx="85340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93C5FD"/>
                </a:solidFill>
                <a:latin typeface="Arial"/>
              </a:defRPr>
            </a:pPr>
            <a:r>
              <a:t>THANK YOU</a:t>
            </a:r>
          </a:p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感谢各位评审老师的聆听！</a:t>
            </a:r>
          </a:p>
          <a:p>
            <a:pPr algn="ctr">
              <a:defRPr sz="1600">
                <a:solidFill>
                  <a:srgbClr val="E2E8F0"/>
                </a:solidFill>
                <a:latin typeface="Microsoft YaHei"/>
              </a:defRPr>
            </a:pPr>
            <a:br/>
            <a:r>
              <a:t>恳请各位老师批评指正</a:t>
            </a:r>
            <a:br/>
            <a:br/>
            <a:r>
              <a:t>汇报人：杨涛  |  指导老师：刘星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